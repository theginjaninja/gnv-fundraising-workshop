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1: Pitch Narrative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Pitch Substance + Storytelling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The Pitch Substance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Every great pitch has three things per element: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Key Narrative: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core message. One sentence that captures the essence.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Proof Points: </a:t>
            </a:r>
            <a:r>
              <a:rPr sz="1800" b="0">
                <a:solidFill>
                  <a:srgbClr val="0F172A"/>
                </a:solidFill>
                <a:latin typeface="Calibri"/>
              </a:rPr>
              <a:t>Specific evidence. Numbers, customers, data, agreements.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So What?: </a:t>
            </a:r>
            <a:r>
              <a:rPr sz="1800" b="0">
                <a:solidFill>
                  <a:srgbClr val="0F172A"/>
                </a:solidFill>
                <a:latin typeface="Calibri"/>
              </a:rPr>
              <a:t>Why this matters to the investor. Connect to returns.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Strong pitches have evidence in every row.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Weak pitches have assumptions dressed as facts.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Your job: </a:t>
            </a:r>
            <a:r>
              <a:rPr sz="1800" b="0">
                <a:solidFill>
                  <a:srgbClr val="0F172A"/>
                </a:solidFill>
                <a:latin typeface="Calibri"/>
              </a:rPr>
              <a:t>fill every cell honestly, then strengthen the weak 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Pitch Substance Template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9456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Element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Key Narrative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Proof Points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 What?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Business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Positioning: Where Do You Sit?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Hair on Fire: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problem is so urgent that customers will use a half-built product to solve it. They are actively searching for a solution right now.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Hard Fact: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 have discovered something true that most people do not yet believe. A contrarian insight backed by evidence.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Future Vision: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 see where the world is heading and are building for that future. Requires strong founder credibility and a clear path from here to there.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Story Arc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Choose the arc that fits your startup best: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Demo Day Arc (default):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standard 10-slide structure. Works for most startups. Clear, logical, investor-friendly.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Strategic Narrative (Andy Raskin):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Starts with a shift in the world, positions your startup as the inevitable response. Best for vision-led pitches.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Market Framing (April Dunford adapted):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Starts with where you win today, then expands. Best for startups with existing traction in a niche.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Demo Day Arc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Hook: </a:t>
            </a:r>
            <a:r>
              <a:rPr sz="1800" b="0">
                <a:solidFill>
                  <a:srgbClr val="0F172A"/>
                </a:solidFill>
                <a:latin typeface="Calibri"/>
              </a:rPr>
              <a:t>A stat, question, or story that makes investors lean forward.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Problem: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pain point, who has it, and how they cope today.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Solution: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Your product and how it works (demo or visual).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Market: </a:t>
            </a:r>
            <a:r>
              <a:rPr sz="1800" b="0">
                <a:solidFill>
                  <a:srgbClr val="0F172A"/>
                </a:solidFill>
                <a:latin typeface="Calibri"/>
              </a:rPr>
              <a:t>TAM/SAM/SOM with bottom-up logic.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Product: </a:t>
            </a:r>
            <a:r>
              <a:rPr sz="1800" b="0">
                <a:solidFill>
                  <a:srgbClr val="0F172A"/>
                </a:solidFill>
                <a:latin typeface="Calibri"/>
              </a:rPr>
              <a:t>Key features, screenshots, architecture.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6. Business Model: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you make money. Pricing, unit economics.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7. Traction: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Revenue, users, growth rate, key milestones.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8. Team: </a:t>
            </a:r>
            <a:r>
              <a:rPr sz="1800" b="0">
                <a:solidFill>
                  <a:srgbClr val="0F172A"/>
                </a:solidFill>
                <a:latin typeface="Calibri"/>
              </a:rPr>
              <a:t>Why this team wins. Relevant experience, unfair advantages.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9. Vision: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Where this goes in 5 years. The big outcome.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10. The Ask: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much, what for, what milestones it unlocks.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Strategic Narrative (Andy Raskin)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Name a big, relevant shift in the world: </a:t>
            </a:r>
            <a:r>
              <a:rPr sz="1800" b="0">
                <a:solidFill>
                  <a:srgbClr val="0F172A"/>
                </a:solidFill>
                <a:latin typeface="Calibri"/>
              </a:rPr>
              <a:t>What has changed that creates both danger and opportunity? Make it undeniable.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Show there will be winners and losers: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Stakes matter. Who adapts thrives. Who ignores it falls behind.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Tease the promised land: </a:t>
            </a:r>
            <a:r>
              <a:rPr sz="1800" b="0">
                <a:solidFill>
                  <a:srgbClr val="0F172A"/>
                </a:solidFill>
                <a:latin typeface="Calibri"/>
              </a:rPr>
              <a:t>Paint the future for those who get it right. Do not describe your product yet.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Introduce features as magic gifts: </a:t>
            </a:r>
            <a:r>
              <a:rPr sz="1800" b="0">
                <a:solidFill>
                  <a:srgbClr val="0F172A"/>
                </a:solidFill>
                <a:latin typeface="Calibri"/>
              </a:rPr>
              <a:t>Now reveal your product as the thing that gets them to the promised land.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Present evidence you can make it real: </a:t>
            </a:r>
            <a:r>
              <a:rPr sz="1800" b="0">
                <a:solidFill>
                  <a:srgbClr val="0F172A"/>
                </a:solidFill>
                <a:latin typeface="Calibri"/>
              </a:rPr>
              <a:t>Traction, team, technology. Proof this is not just a vision.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Market Framing Narrative (Dunford adapted)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Start with your best customers: </a:t>
            </a:r>
            <a:r>
              <a:rPr sz="1800" b="0">
                <a:solidFill>
                  <a:srgbClr val="0F172A"/>
                </a:solidFill>
                <a:latin typeface="Calibri"/>
              </a:rPr>
              <a:t>Who loves you most? What do they have in common?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Define the market category on your terms: </a:t>
            </a:r>
            <a:r>
              <a:rPr sz="1800" b="0">
                <a:solidFill>
                  <a:srgbClr val="0F172A"/>
                </a:solidFill>
                <a:latin typeface="Calibri"/>
              </a:rPr>
              <a:t>Frame the space so you are the obvious winner.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Show the competitive landscape honestly: </a:t>
            </a:r>
            <a:r>
              <a:rPr sz="1800" b="0">
                <a:solidFill>
                  <a:srgbClr val="0F172A"/>
                </a:solidFill>
                <a:latin typeface="Calibri"/>
              </a:rPr>
              <a:t>Acknowledge alternatives. Show why you win.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Present your unique capabilities: </a:t>
            </a:r>
            <a:r>
              <a:rPr sz="1800" b="0">
                <a:solidFill>
                  <a:srgbClr val="0F172A"/>
                </a:solidFill>
                <a:latin typeface="Calibri"/>
              </a:rPr>
              <a:t>What can you do that nobody else can?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Demonstrate value delivered: </a:t>
            </a:r>
            <a:r>
              <a:rPr sz="1800" b="0">
                <a:solidFill>
                  <a:srgbClr val="0F172A"/>
                </a:solidFill>
                <a:latin typeface="Calibri"/>
              </a:rPr>
              <a:t>Concrete outcomes for real customers.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6. Size the addressable market from the bottom up: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 from your beachhead, expand outward.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7. Show the expansion path: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does this become a large company?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